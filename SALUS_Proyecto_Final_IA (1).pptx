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4E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28600" y="0"/>
            <a:ext cx="109728" cy="5143500"/>
          </a:xfrm>
          <a:prstGeom prst="rect">
            <a:avLst/>
          </a:prstGeom>
          <a:solidFill>
            <a:srgbClr val="34D399">
              <a:alpha val="40000"/>
            </a:srgbClr>
          </a:solidFill>
          <a:ln w="12700">
            <a:solidFill>
              <a:srgbClr val="34D399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32320" y="731520"/>
            <a:ext cx="1280160" cy="384048"/>
          </a:xfrm>
          <a:prstGeom prst="rect">
            <a:avLst>
              <a:gd name="adj" fmla="val 11905"/>
            </a:avLst>
          </a:prstGeom>
          <a:solidFill>
            <a:srgbClr val="34D399">
              <a:alpha val="60000"/>
            </a:srgbClr>
          </a:solidFill>
          <a:ln w="12700">
            <a:solidFill>
              <a:srgbClr val="34D399">
                <a:alpha val="6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580376" y="347472"/>
            <a:ext cx="384048" cy="1161288"/>
          </a:xfrm>
          <a:prstGeom prst="rect">
            <a:avLst>
              <a:gd name="adj" fmla="val 11905"/>
            </a:avLst>
          </a:prstGeom>
          <a:solidFill>
            <a:srgbClr val="34D399">
              <a:alpha val="60000"/>
            </a:srgbClr>
          </a:solidFill>
          <a:ln w="12700">
            <a:solidFill>
              <a:srgbClr val="34D399">
                <a:alpha val="6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822960"/>
            <a:ext cx="7863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spc="1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SALUS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640080" y="196596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Apoyo a la Salud del Usuario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640080" y="2606040"/>
            <a:ext cx="5943600" cy="36576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74320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Agentes Inteligentes con Tools y Skills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Final · Inteligencia Artificial · 2025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40080" y="3657600"/>
            <a:ext cx="7863840" cy="1097280"/>
          </a:xfrm>
          <a:prstGeom prst="rect">
            <a:avLst/>
          </a:prstGeom>
          <a:solidFill>
            <a:srgbClr val="065F46"/>
          </a:solidFill>
          <a:ln w="6350">
            <a:solidFill>
              <a:srgbClr val="05966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3657600"/>
            <a:ext cx="7863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Integrante 1  ·  Integrante 2  ·  Integrante 3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Duración: 8 minutos  ·  Modalidad: Pitch + Demo en vivo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D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64E3B"/>
          </a:solidFill>
          <a:ln w="12700">
            <a:solidFill>
              <a:srgbClr val="064E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 que resolvemos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858000" y="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INTEGRANTE 1 · 1:30 min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2560320" cy="3200400"/>
          </a:xfrm>
          <a:prstGeom prst="rect">
            <a:avLst/>
          </a:prstGeom>
          <a:solidFill>
            <a:srgbClr val="064E3B"/>
          </a:solidFill>
          <a:ln w="12700">
            <a:solidFill>
              <a:srgbClr val="064E3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05840"/>
            <a:ext cx="256032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de cada 10</a:t>
            </a:r>
            <a:endParaRPr lang="en-US" sz="28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colombianos no saben si sus síntomas son una emergencia o pueden esperar.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3200400" y="1005840"/>
            <a:ext cx="182880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0" y="114300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❌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200400" y="18288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Urgencias saturadas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337560" y="2286000"/>
            <a:ext cx="1554480" cy="2743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91840" y="2377440"/>
            <a:ext cx="16459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Consultas no urgentes colapsan los servicios de emergencias en el país.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166360" y="1005840"/>
            <a:ext cx="182880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66360" y="114300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⏱️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5166360" y="18288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 perdido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303520" y="2286000"/>
            <a:ext cx="1554480" cy="2743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257800" y="2377440"/>
            <a:ext cx="16459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Largas esperas para saber qué especialista consultar o dónde ir.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132320" y="1005840"/>
            <a:ext cx="182880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132320" y="114300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💊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7132320" y="18288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Automedicación riesgosa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269480" y="2286000"/>
            <a:ext cx="1554480" cy="2743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223760" y="2377440"/>
            <a:ext cx="16459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orientación confiable, las personas toman medicamentos sin prescripción.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65760" y="43434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SALUS da orientación inmediata, confiable y disponible 24/7 para cualquier persona en Colombia.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D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64E3B"/>
          </a:solidFill>
          <a:ln w="12700">
            <a:solidFill>
              <a:srgbClr val="064E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técnica del agente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858000" y="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INTEGRANTE 2 · 2 min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2926080" cy="3657600"/>
          </a:xfrm>
          <a:prstGeom prst="rect">
            <a:avLst/>
          </a:prstGeom>
          <a:solidFill>
            <a:srgbClr val="064E3B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96012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SALUS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(Gemini 2.5 Flash)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169164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Tool calling automático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19456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3 Skills activas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69748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Memoria de chat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320040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Temperatura: 0.4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370332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Thinking budget: 1000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00400" y="1234440"/>
            <a:ext cx="548640" cy="0"/>
          </a:xfrm>
          <a:prstGeom prst="line">
            <a:avLst/>
          </a:prstGeom>
          <a:noFill/>
          <a:ln w="19050">
            <a:solidFill>
              <a:srgbClr val="05966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0" y="1764792"/>
            <a:ext cx="548640" cy="0"/>
          </a:xfrm>
          <a:prstGeom prst="line">
            <a:avLst/>
          </a:prstGeom>
          <a:noFill/>
          <a:ln w="19050">
            <a:solidFill>
              <a:srgbClr val="05966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00400" y="2295144"/>
            <a:ext cx="548640" cy="0"/>
          </a:xfrm>
          <a:prstGeom prst="line">
            <a:avLst/>
          </a:prstGeom>
          <a:noFill/>
          <a:ln w="19050">
            <a:solidFill>
              <a:srgbClr val="0596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0" y="2825496"/>
            <a:ext cx="548640" cy="0"/>
          </a:xfrm>
          <a:prstGeom prst="line">
            <a:avLst/>
          </a:prstGeom>
          <a:noFill/>
          <a:ln w="19050">
            <a:solidFill>
              <a:srgbClr val="05966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00400" y="3355848"/>
            <a:ext cx="548640" cy="0"/>
          </a:xfrm>
          <a:prstGeom prst="line">
            <a:avLst/>
          </a:prstGeom>
          <a:noFill/>
          <a:ln w="19050">
            <a:solidFill>
              <a:srgbClr val="05966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0400" y="3886200"/>
            <a:ext cx="548640" cy="0"/>
          </a:xfrm>
          <a:prstGeom prst="line">
            <a:avLst/>
          </a:prstGeom>
          <a:noFill/>
          <a:ln w="19050">
            <a:solidFill>
              <a:srgbClr val="05966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18688" y="1828800"/>
            <a:ext cx="512064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59669"/>
                </a:solidFill>
              </a:rPr>
              <a:t>↔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3840480" y="960120"/>
            <a:ext cx="5029200" cy="3657600"/>
          </a:xfrm>
          <a:prstGeom prst="rect">
            <a:avLst/>
          </a:prstGeom>
          <a:solidFill>
            <a:srgbClr val="FFFFFF"/>
          </a:solidFill>
          <a:ln w="6350">
            <a:solidFill>
              <a:srgbClr val="05966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840480" y="96012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(herramientas externas)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840480" y="1417320"/>
            <a:ext cx="5029200" cy="2743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977640" y="1536192"/>
            <a:ext cx="4754880" cy="438912"/>
          </a:xfrm>
          <a:prstGeom prst="rect">
            <a:avLst/>
          </a:prstGeom>
          <a:solidFill>
            <a:srgbClr val="D1FAE5"/>
          </a:solidFill>
          <a:ln w="6350">
            <a:solidFill>
              <a:srgbClr val="D1FA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069080" y="1536192"/>
            <a:ext cx="1828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evaluar_sintomas()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897880" y="1536192"/>
            <a:ext cx="2743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Triaje → emergencia / urgente / programada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977640" y="2048256"/>
            <a:ext cx="475488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1FAE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069080" y="2048256"/>
            <a:ext cx="1828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buscar_farmacia()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897880" y="2048256"/>
            <a:ext cx="2743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Droguerías cercanas con horarios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977640" y="2560320"/>
            <a:ext cx="4754880" cy="438912"/>
          </a:xfrm>
          <a:prstGeom prst="rect">
            <a:avLst/>
          </a:prstGeom>
          <a:solidFill>
            <a:srgbClr val="D1FAE5"/>
          </a:solidFill>
          <a:ln w="6350">
            <a:solidFill>
              <a:srgbClr val="D1FAE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069080" y="2560320"/>
            <a:ext cx="1828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agendar_cita()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897880" y="2560320"/>
            <a:ext cx="2743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Programar cita por especialidad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977640" y="3072384"/>
            <a:ext cx="475488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1FAE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069080" y="3072384"/>
            <a:ext cx="1828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consultar_clima_y_alertas()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897880" y="3072384"/>
            <a:ext cx="2743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Open-Meteo API + alertas epidémicas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977640" y="3584448"/>
            <a:ext cx="4754880" cy="438912"/>
          </a:xfrm>
          <a:prstGeom prst="rect">
            <a:avLst/>
          </a:prstGeom>
          <a:solidFill>
            <a:srgbClr val="D1FAE5"/>
          </a:solidFill>
          <a:ln w="6350">
            <a:solidFill>
              <a:srgbClr val="D1FAE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069080" y="3584448"/>
            <a:ext cx="1828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info_medicamento()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897880" y="3584448"/>
            <a:ext cx="2743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Usos y contraindicaciones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3977640" y="4096512"/>
            <a:ext cx="475488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1FA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069080" y="4096512"/>
            <a:ext cx="1828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activar_emergencia()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897880" y="4096512"/>
            <a:ext cx="2743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Protocolo 123 + primeros auxilios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D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y Skills: cómo decide el agente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74320" y="96012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 una Tool?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274320" y="137160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función Python que el LLM puede invocar para obtener información del mundo real. El modelo decide solo cuándo usarla según el mensaje del usuario.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2377440"/>
            <a:ext cx="3840480" cy="2286000"/>
          </a:xfrm>
          <a:prstGeom prst="rect">
            <a:avLst/>
          </a:prstGeom>
          <a:solidFill>
            <a:srgbClr val="064E3B"/>
          </a:solidFill>
          <a:ln w="6350">
            <a:solidFill>
              <a:srgbClr val="05966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5146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Usuario: "tengo fiebre de 39°C"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2926080"/>
            <a:ext cx="347472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LLM detecta síntomas
</a:t>
            </a:r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Llama evaluar_sintomas()
</a:t>
            </a:r>
            <a:pPr indent="0" marL="0">
              <a:buNone/>
            </a:pPr>
            <a:r>
              <a:rPr lang="en-US" sz="12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Recibe: URGENTE
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Responde con orientación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434840" y="914400"/>
            <a:ext cx="36576" cy="384048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63440" y="96012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 una Skill?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663440" y="137160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Instrucción en Markdown que guía cómo razonar el agente en situaciones específicas. Se inyecta en el contexto del sistema.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663440" y="2377440"/>
            <a:ext cx="4114800" cy="566928"/>
          </a:xfrm>
          <a:prstGeom prst="rect">
            <a:avLst/>
          </a:prstGeom>
          <a:solidFill>
            <a:srgbClr val="D1FAE5"/>
          </a:solidFill>
          <a:ln w="6350">
            <a:solidFill>
              <a:srgbClr val="0596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00600" y="242316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skill_triaje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00600" y="2679192"/>
            <a:ext cx="3840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Clasifica síntomas en 3 niveles de urgencia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663440" y="3035808"/>
            <a:ext cx="4114800" cy="566928"/>
          </a:xfrm>
          <a:prstGeom prst="rect">
            <a:avLst/>
          </a:prstGeom>
          <a:solidFill>
            <a:srgbClr val="D1FAE5"/>
          </a:solidFill>
          <a:ln w="6350">
            <a:solidFill>
              <a:srgbClr val="05966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00600" y="308152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skill_privacidad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00600" y="3337560"/>
            <a:ext cx="3840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qué puede y no puede hacer el agente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663440" y="3694176"/>
            <a:ext cx="4114800" cy="566928"/>
          </a:xfrm>
          <a:prstGeom prst="rect">
            <a:avLst/>
          </a:prstGeom>
          <a:solidFill>
            <a:srgbClr val="D1FAE5"/>
          </a:solidFill>
          <a:ln w="6350">
            <a:solidFill>
              <a:srgbClr val="05966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00600" y="373989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skill_emergencias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00600" y="3995928"/>
            <a:ext cx="3840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Protocolo de actuación ante crisis médicas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D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64E3B"/>
          </a:solidFill>
          <a:ln w="12700">
            <a:solidFill>
              <a:srgbClr val="064E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Demostración funcional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858000" y="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INTEGRANTE 3 · 2:30 min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960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casos representativos ejecutados en vivo: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320" y="1417320"/>
            <a:ext cx="457200" cy="59436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417320"/>
            <a:ext cx="457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77240" y="1417320"/>
            <a:ext cx="809244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D1FA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453896"/>
            <a:ext cx="7772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"Tengo fiebre de 39°C y dolor de cabeza en Cali"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14400" y="1655064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evaluar_sintomas() + consultar_clima_y_alertas()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577840" y="1655064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Triaje URGENTE + alerta epidémica si hay lluvia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4320" y="2130552"/>
            <a:ext cx="457200" cy="594360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2130552"/>
            <a:ext cx="457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77240" y="2130552"/>
            <a:ext cx="8092440" cy="594360"/>
          </a:xfrm>
          <a:prstGeom prst="rect">
            <a:avLst/>
          </a:prstGeom>
          <a:solidFill>
            <a:srgbClr val="F0FDF4"/>
          </a:solidFill>
          <a:ln w="6350">
            <a:solidFill>
              <a:srgbClr val="D1FA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2167128"/>
            <a:ext cx="7772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"¿Dónde consigo ibuprofeno en Granada, Cali?"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14400" y="2368296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buscar_farmacia(ciudad='Cali', barrio='Granada')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577840" y="2368296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farmacias con horario y domicilio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74320" y="2843784"/>
            <a:ext cx="457200" cy="59436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2843784"/>
            <a:ext cx="457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77240" y="2843784"/>
            <a:ext cx="809244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D1FA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2880360"/>
            <a:ext cx="7772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"¿Para qué sirve la amoxicilina?"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14400" y="3081528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info_medicamento('amoxicilina')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577840" y="3081528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Usos, dosis, requiere receta + advertencia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74320" y="3557016"/>
            <a:ext cx="457200" cy="594360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" y="3557016"/>
            <a:ext cx="457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777240" y="3557016"/>
            <a:ext cx="8092440" cy="594360"/>
          </a:xfrm>
          <a:prstGeom prst="rect">
            <a:avLst/>
          </a:prstGeom>
          <a:solidFill>
            <a:srgbClr val="F0FDF4"/>
          </a:solidFill>
          <a:ln w="6350">
            <a:solidFill>
              <a:srgbClr val="D1FAE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3593592"/>
            <a:ext cx="7772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"Quiero cita con medicina general. Soy Carlos Pérez"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914400" y="37947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agendar_cita('medicina general', 'mañana', 'Carlos Pérez')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577840" y="3794760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Confirmación con número de referencia SALUS-XXXXXX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74320" y="4270248"/>
            <a:ext cx="457200" cy="59436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4320" y="4270248"/>
            <a:ext cx="457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777240" y="4270248"/>
            <a:ext cx="809244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D1FA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14400" y="4306824"/>
            <a:ext cx="7772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"Mi mamá tiene dolor en el pecho y no respira bien"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914400" y="4507992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activar_emergencia() → PROTOCOLO INMEDIATO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577840" y="4507992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Número 123 + pasos de primeros auxilios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D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64E3B"/>
          </a:solidFill>
          <a:ln w="12700">
            <a:solidFill>
              <a:srgbClr val="064E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y conclusiones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1965960" cy="1188720"/>
          </a:xfrm>
          <a:prstGeom prst="rect">
            <a:avLst/>
          </a:prstGeom>
          <a:solidFill>
            <a:srgbClr val="064E3B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05156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274320" y="169164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implementadas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450592" y="1005840"/>
            <a:ext cx="1965960" cy="1188720"/>
          </a:xfrm>
          <a:prstGeom prst="rect">
            <a:avLst/>
          </a:prstGeom>
          <a:solidFill>
            <a:srgbClr val="064E3B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50592" y="105156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2450592" y="169164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especializadas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26864" y="1005840"/>
            <a:ext cx="1965960" cy="1188720"/>
          </a:xfrm>
          <a:prstGeom prst="rect">
            <a:avLst/>
          </a:prstGeom>
          <a:solidFill>
            <a:srgbClr val="064E3B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26864" y="105156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4200" dirty="0"/>
          </a:p>
        </p:txBody>
      </p:sp>
      <p:sp>
        <p:nvSpPr>
          <p:cNvPr id="12" name="Text 10"/>
          <p:cNvSpPr/>
          <p:nvPr/>
        </p:nvSpPr>
        <p:spPr>
          <a:xfrm>
            <a:off x="4626864" y="169164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 de uso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demo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803136" y="1005840"/>
            <a:ext cx="1965960" cy="1188720"/>
          </a:xfrm>
          <a:prstGeom prst="rect">
            <a:avLst/>
          </a:prstGeom>
          <a:solidFill>
            <a:srgbClr val="064E3B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03136" y="105156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4200" dirty="0"/>
          </a:p>
        </p:txBody>
      </p:sp>
      <p:sp>
        <p:nvSpPr>
          <p:cNvPr id="15" name="Text 13"/>
          <p:cNvSpPr/>
          <p:nvPr/>
        </p:nvSpPr>
        <p:spPr>
          <a:xfrm>
            <a:off x="6803136" y="169164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 de pago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requeridas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65760" y="23774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logramos: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65760" y="2788920"/>
            <a:ext cx="4114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 que razona y decide cuándo usar cada tool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Memoria conversacional (el agente recuerda el contexto)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Protocolo de emergencias funcional con datos reales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 real con API de clima (Open-Meteo)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754880" y="237744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futuro: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754880" y="2788920"/>
            <a:ext cx="40233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Conectar con API real de EPS para citas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Places API para farmacias en tiempo real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OpenFDA para base de datos completa de medicamentos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Vision para analizar fotos de heridas o recetas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64E3B"/>
          </a:solidFill>
          <a:ln w="12700">
            <a:solidFill>
              <a:srgbClr val="064E3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4800600"/>
            <a:ext cx="841248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SALUS demuestra que un LLM con tools y skills puede actuar como un agente útil, seguro y responsable.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64E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Guía de exposición — 8 minutos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(Esta slide es para el equipo, no se proyecta)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1234440"/>
            <a:ext cx="8595360" cy="804672"/>
          </a:xfrm>
          <a:prstGeom prst="rect">
            <a:avLst/>
          </a:prstGeom>
          <a:solidFill>
            <a:srgbClr val="065F46"/>
          </a:solidFill>
          <a:ln w="6350">
            <a:solidFill>
              <a:srgbClr val="05966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271016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INTEGRANTE 1  ·  0:00 – 1:30  ·  Contexto y Problema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581912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 el problema de salud en Colombia  |  Muestra la slide del problema  |  Termina con: 'Para resolver esto, creamos SALUS'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2130552"/>
            <a:ext cx="8595360" cy="804672"/>
          </a:xfrm>
          <a:prstGeom prst="rect">
            <a:avLst/>
          </a:prstGeom>
          <a:solidFill>
            <a:srgbClr val="065F46"/>
          </a:solidFill>
          <a:ln w="6350">
            <a:solidFill>
              <a:srgbClr val="05966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16712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INTEGRANTE 2  ·  1:30 – 3:30  ·  Arquitectura Técnica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2478024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 el diagrama de arquitectura  |  Define qué es una Tool y una Skill con el ejemplo de código  |  Menciona el modelo (Gemini 2.5 Flash) y el SDK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3026664"/>
            <a:ext cx="8595360" cy="804672"/>
          </a:xfrm>
          <a:prstGeom prst="rect">
            <a:avLst/>
          </a:prstGeom>
          <a:solidFill>
            <a:srgbClr val="065F46"/>
          </a:solidFill>
          <a:ln w="6350">
            <a:solidFill>
              <a:srgbClr val="05966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06324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INTEGRANTE 3  ·  3:30 – 6:00  ·  Demostración en Vivo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3374136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Comparte pantalla con el notebook de Colab  |  Ejecuta los 5 casos en la celda 7  |  Narra qué hace el agente en cada caso mientras corre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" y="3922776"/>
            <a:ext cx="8595360" cy="804672"/>
          </a:xfrm>
          <a:prstGeom prst="rect">
            <a:avLst/>
          </a:prstGeom>
          <a:solidFill>
            <a:srgbClr val="065F46"/>
          </a:solidFill>
          <a:ln w="6350">
            <a:solidFill>
              <a:srgbClr val="05966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395935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 ·  6:00 – 8:00  ·  Conclusiones y Preguntas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4270248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Muestran slide de resultados  |  Mencionan mejoras futuras  |  Abren espacio para preguntas del profesor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SALUS - Agente Inteligente de Salud</dc:title>
  <dc:subject>PptxGenJS Presentation</dc:subject>
  <dc:creator>Equipo SALUS</dc:creator>
  <cp:lastModifiedBy>Equipo SALUS</cp:lastModifiedBy>
  <cp:revision>1</cp:revision>
  <dcterms:created xsi:type="dcterms:W3CDTF">2026-05-09T13:58:06Z</dcterms:created>
  <dcterms:modified xsi:type="dcterms:W3CDTF">2026-05-09T13:58:06Z</dcterms:modified>
</cp:coreProperties>
</file>